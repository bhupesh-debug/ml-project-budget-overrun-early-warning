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D7D31"/>
                </a:solidFill>
              </a:defRPr>
            </a:pPr>
            <a:r>
              <a:t>CORPORATE FINANCE &amp; FP&amp;A DECISION SUPPORT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Budget Overrun Early-Warning Model</a:t>
            </a:r>
          </a:p>
          <a:p>
            <a:pPr>
              <a:defRPr sz="1800">
                <a:solidFill>
                  <a:srgbClr val="D2E1F5"/>
                </a:solidFill>
              </a:defRPr>
            </a:pPr>
            <a:r>
              <a:t>Predictive Prioritization of Mid-Year Agency Spend to Prevent Year-End Deficits</a:t>
            </a:r>
          </a:p>
          <a:p>
            <a:pPr>
              <a:defRPr sz="1100">
                <a:solidFill>
                  <a:srgbClr val="B4C3D7"/>
                </a:solidFill>
              </a:defRPr>
            </a:pPr>
            <a:r>
              <a:t>Author: Bhupesh Chandra Dimri | Email: bhupesh7cd@gmail.com |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5A11"/>
                </a:solidFill>
              </a:defRPr>
            </a:pPr>
            <a:r>
              <a:t>FP&amp;A &amp; CORPORATE FINANCE ANALYTICS</a:t>
            </a:r>
          </a:p>
          <a:p>
            <a:pPr>
              <a:defRPr sz="2200" b="1">
                <a:solidFill>
                  <a:srgbClr val="1F3864"/>
                </a:solidFill>
              </a:defRPr>
            </a:pPr>
            <a:r>
              <a:t>Executive Problem Statement: Overcoming Review Capacity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F3864"/>
                </a:solidFill>
              </a:rPr>
              <a:t>The Capacity Dilemma: </a:t>
            </a:r>
            <a:r>
              <a:rPr>
                <a:solidFill>
                  <a:srgbClr val="3C4043"/>
                </a:solidFill>
              </a:rPr>
              <a:t>Finance and budget reviewers manage thousands of agency line items and cannot manually inspect every line at mid-year.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F3864"/>
                </a:solidFill>
              </a:rPr>
              <a:t>The Cost of Late Discovery: </a:t>
            </a:r>
            <a:r>
              <a:rPr>
                <a:solidFill>
                  <a:srgbClr val="3C4043"/>
                </a:solidFill>
              </a:rPr>
              <a:t>Budget variances discovered in Q4 are unrecoverable, forcing emergency spending freezes or fiscal deficits.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F3864"/>
                </a:solidFill>
              </a:rPr>
              <a:t>The Analytical Solution: </a:t>
            </a:r>
            <a:r>
              <a:rPr>
                <a:solidFill>
                  <a:srgbClr val="3C4043"/>
                </a:solidFill>
              </a:rPr>
              <a:t>A machine learning early-warning model that scores each line's risk of exceeding a 5% overrun threshold, prioritizing review where risk is concentrated.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F3864"/>
                </a:solidFill>
              </a:rPr>
              <a:t>Proven Empirical Result: </a:t>
            </a:r>
            <a:r>
              <a:rPr>
                <a:solidFill>
                  <a:srgbClr val="3C4043"/>
                </a:solidFill>
              </a:rPr>
              <a:t>Reviewing the top 20% of flagged lines captures 62.1% of all overruns (a 3.1x lift over random selection), outperforming legacy burn-rate rules (35.5%).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5A11"/>
                </a:solidFill>
              </a:defRPr>
            </a:pPr>
            <a:r>
              <a:t>FP&amp;A &amp; CORPORATE FINANCE ANALYTICS</a:t>
            </a:r>
          </a:p>
          <a:p>
            <a:pPr>
              <a:defRPr sz="2200" b="1">
                <a:solidFill>
                  <a:srgbClr val="1F3864"/>
                </a:solidFill>
              </a:defRPr>
            </a:pPr>
            <a:r>
              <a:t>Model Comparison: Explainable Logistic Regression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F3864"/>
                </a:solidFill>
              </a:rPr>
              <a:t>Burn-Gap Heuristic (Baseline): </a:t>
            </a:r>
            <a:r>
              <a:rPr>
                <a:solidFill>
                  <a:srgbClr val="3C4043"/>
                </a:solidFill>
              </a:rPr>
              <a:t>ROC-AUC 0.686 | PR-AUC 0.435 | Captures only 35.5% of overruns in top 20% volume.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F3864"/>
                </a:solidFill>
              </a:rPr>
              <a:t>Logistic Regression (Selected Production Model): </a:t>
            </a:r>
            <a:r>
              <a:rPr>
                <a:solidFill>
                  <a:srgbClr val="3C4043"/>
                </a:solidFill>
              </a:rPr>
              <a:t>ROC-AUC 0.906 | PR-AUC 0.777 | Captures 62.1% of overruns in top 20% volume (3.10x lift).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F3864"/>
                </a:solidFill>
              </a:rPr>
              <a:t>Gradient Boosting Classifier: </a:t>
            </a:r>
            <a:r>
              <a:rPr>
                <a:solidFill>
                  <a:srgbClr val="3C4043"/>
                </a:solidFill>
              </a:rPr>
              <a:t>ROC-AUC 0.899 | PR-AUC 0.763 | Captures 61.6% of overruns in top 20% volume.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F3864"/>
                </a:solidFill>
              </a:rPr>
              <a:t>Controller Recommendation: </a:t>
            </a:r>
            <a:r>
              <a:rPr>
                <a:solidFill>
                  <a:srgbClr val="3C4043"/>
                </a:solidFill>
              </a:rPr>
              <a:t>Logistic regression matches boosting within statistical noise while offering full coefficient auditability for department heads.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5A11"/>
                </a:solidFill>
              </a:defRPr>
            </a:pPr>
            <a:r>
              <a:t>FP&amp;A &amp; CORPORATE FINANCE ANALYTICS</a:t>
            </a:r>
          </a:p>
          <a:p>
            <a:pPr>
              <a:defRPr sz="2200" b="1">
                <a:solidFill>
                  <a:srgbClr val="1F3864"/>
                </a:solidFill>
              </a:defRPr>
            </a:pPr>
            <a:r>
              <a:t>Econometric Findings: Primary Operational Risk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F3864"/>
                </a:solidFill>
              </a:rPr>
              <a:t>1. Overtime Reliance (Odds Ratio 4.36x): </a:t>
            </a:r>
            <a:r>
              <a:rPr>
                <a:solidFill>
                  <a:srgbClr val="3C4043"/>
                </a:solidFill>
              </a:rPr>
              <a:t>Overtime surges represent the single most acute warning signal of structural operational distress.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F3864"/>
                </a:solidFill>
              </a:rPr>
              <a:t>2. Mid-Year Change Orders (Odds Ratio 2.95x): </a:t>
            </a:r>
            <a:r>
              <a:rPr>
                <a:solidFill>
                  <a:srgbClr val="3C4043"/>
                </a:solidFill>
              </a:rPr>
              <a:t>Unbudgeted scope expansion through contract change orders drives systemic overrun cascades.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F3864"/>
                </a:solidFill>
              </a:rPr>
              <a:t>3. Prior-Year Variance Inertia (Odds Ratio 1.20x): </a:t>
            </a:r>
            <a:r>
              <a:rPr>
                <a:solidFill>
                  <a:srgbClr val="3C4043"/>
                </a:solidFill>
              </a:rPr>
              <a:t>Historical deficit history reflects chronic budgeting under-allocation across fiscal cycles.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F3864"/>
                </a:solidFill>
              </a:rPr>
              <a:t>4. Burn-Rate Gap (Odds Ratio 1.32x): </a:t>
            </a:r>
            <a:r>
              <a:rPr>
                <a:solidFill>
                  <a:srgbClr val="3C4043"/>
                </a:solidFill>
              </a:rPr>
              <a:t>Cumulative spend exceeding the fiscal calendar pace provides empirical early warning at Month 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5A11"/>
                </a:solidFill>
              </a:defRPr>
            </a:pPr>
            <a:r>
              <a:t>FP&amp;A &amp; CORPORATE FINANCE ANALYTICS</a:t>
            </a:r>
          </a:p>
          <a:p>
            <a:pPr>
              <a:defRPr sz="2200" b="1">
                <a:solidFill>
                  <a:srgbClr val="1F3864"/>
                </a:solidFill>
              </a:defRPr>
            </a:pPr>
            <a:r>
              <a:t>Monte Carlo Simulation &amp; Return on 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F3864"/>
                </a:solidFill>
              </a:rPr>
              <a:t>5,000-Run Monte Carlo Simulation: </a:t>
            </a:r>
            <a:r>
              <a:rPr>
                <a:solidFill>
                  <a:srgbClr val="3C4043"/>
                </a:solidFill>
              </a:rPr>
              <a:t>Across an agency budget of $1.2B, median unmitigated overrun exposure is $30M. Early mitigation saves $3.1M annually.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F3864"/>
                </a:solidFill>
              </a:rPr>
              <a:t>Base Case Financial Return: </a:t>
            </a:r>
            <a:r>
              <a:rPr>
                <a:solidFill>
                  <a:srgbClr val="3C4043"/>
                </a:solidFill>
              </a:rPr>
              <a:t>Total gross benefits of $3.2M against $110K Year-1 total cost yields Net Benefit of $3.09M (ROI &gt; 2,800%).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F3864"/>
                </a:solidFill>
              </a:rPr>
              <a:t>Conservative Payback Period: </a:t>
            </a:r>
            <a:r>
              <a:rPr>
                <a:solidFill>
                  <a:srgbClr val="3C4043"/>
                </a:solidFill>
              </a:rPr>
              <a:t>Implementation costs recovered in 1.4 months under conservative mitigation assumptions.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55A11"/>
                </a:solidFill>
              </a:defRPr>
            </a:pPr>
            <a:r>
              <a:t>FP&amp;A &amp; CORPORATE FINANCE ANALYTICS</a:t>
            </a:r>
          </a:p>
          <a:p>
            <a:pPr>
              <a:defRPr sz="2200" b="1">
                <a:solidFill>
                  <a:srgbClr val="1F3864"/>
                </a:solidFill>
              </a:defRPr>
            </a:pPr>
            <a:r>
              <a:t>Strategic Action Plan &amp; Controlled Pilot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F3864"/>
                </a:solidFill>
              </a:rPr>
              <a:t>1. Deploy 20% Capacity Review Threshold: </a:t>
            </a:r>
            <a:r>
              <a:rPr>
                <a:solidFill>
                  <a:srgbClr val="3C4043"/>
                </a:solidFill>
              </a:rPr>
              <a:t>Concentrate analyst reviews on the highest-risk deciles, capturing 62% of potential deficits.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F3864"/>
                </a:solidFill>
              </a:rPr>
              <a:t>2. Enforce Change Order Governance: </a:t>
            </a:r>
            <a:r>
              <a:rPr>
                <a:solidFill>
                  <a:srgbClr val="3C4043"/>
                </a:solidFill>
              </a:rPr>
              <a:t>Capping mid-year change orders reduces systemic portfolio overrun probability by 38% at source.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F3864"/>
                </a:solidFill>
              </a:rPr>
              <a:t>3. Four-Month Implementation Pilot: </a:t>
            </a:r>
            <a:r>
              <a:rPr>
                <a:solidFill>
                  <a:srgbClr val="3C4043"/>
                </a:solidFill>
              </a:rPr>
              <a:t>Shadow testing in Q2 checkpoint followed by full operational rollout for upcoming budget cycle.</a:t>
            </a:r>
          </a:p>
          <a:p>
            <a:pPr>
              <a:spcAft>
                <a:spcPts val="1000"/>
              </a:spcAft>
              <a:defRPr sz="1300"/>
            </a:pPr>
            <a:r>
              <a:rPr b="1">
                <a:solidFill>
                  <a:srgbClr val="1F3864"/>
                </a:solidFill>
              </a:rPr>
              <a:t>Contact Information: </a:t>
            </a:r>
            <a:r>
              <a:rPr>
                <a:solidFill>
                  <a:srgbClr val="3C4043"/>
                </a:solidFill>
              </a:rPr>
              <a:t>Bhupesh Chandra Dimri | Email: bhupesh7cd@gmail.com | Jersey City, NJ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